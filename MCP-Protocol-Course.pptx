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0"/>
            <a:ext cx="91440" cy="109728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Segoe UI"/>
              </a:defRPr>
            </a:pPr>
            <a:r>
              <a:t>🤖🔗 Velox AI Agency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5603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FFFFFF"/>
                </a:solidFill>
                <a:latin typeface="Segoe UI"/>
              </a:defRPr>
            </a:pPr>
            <a:r>
              <a:t>Mastering MCP Protocol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>
                <a:solidFill>
                  <a:srgbClr val="A0A8B8"/>
                </a:solidFill>
                <a:latin typeface="Segoe UI"/>
              </a:defRPr>
            </a:pPr>
            <a:r>
              <a:t>Build AI-Powered Integrations with Model Context Protocol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800" b="1">
                <a:solidFill>
                  <a:srgbClr val="00D2FF"/>
                </a:solidFill>
                <a:latin typeface="Segoe UI"/>
              </a:defRPr>
            </a:pPr>
            <a:r>
              <a:t>MODULE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004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Introduction to MCP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Segoe UI"/>
              </a:defRPr>
            </a:pPr>
            <a:r>
              <a:t>LESSON 1.1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Segoe UI"/>
              </a:defRPr>
            </a:pPr>
            <a:r>
              <a:t>The Problem: Integration Chaos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A0A8B8"/>
                </a:solidFill>
                <a:latin typeface="Segoe UI"/>
              </a:defRPr>
            </a:pPr>
            <a:r>
              <a:t>Before MCP, every AI agent needed custom integrations</a:t>
            </a:r>
            <a:br/>
            <a:r>
              <a:t>• SaaS companies build proprietary integrations</a:t>
            </a:r>
            <a:br/>
            <a:r>
              <a:t>• Same boilerplate code repeated everywhere</a:t>
            </a:r>
            <a:br/>
            <a:r>
              <a:t>• Brittle systems that break with API changes</a:t>
            </a:r>
            <a:br/>
            <a:r>
              <a:t>• Vendor lock-in makes switching difficult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Segoe UI"/>
              </a:defRPr>
            </a:pPr>
            <a:r>
              <a:t>LESSON 1.1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31520"/>
            <a:ext cx="91440" cy="54864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MCP: USB-C for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A0A8B8"/>
                </a:solidFill>
                <a:latin typeface="Segoe UI"/>
              </a:defRPr>
            </a:pPr>
            <a:r>
              <a:t>• Standardized protocol for AI-tool communication</a:t>
            </a:r>
          </a:p>
          <a:p>
            <a:pPr>
              <a:spcAft>
                <a:spcPts val="1200"/>
              </a:spcAft>
              <a:defRPr sz="2200">
                <a:solidFill>
                  <a:srgbClr val="A0A8B8"/>
                </a:solidFill>
                <a:latin typeface="Segoe UI"/>
              </a:defRPr>
            </a:pPr>
            <a:r>
              <a:t>• One protocol connects to everything</a:t>
            </a:r>
          </a:p>
          <a:p>
            <a:pPr>
              <a:spcAft>
                <a:spcPts val="1200"/>
              </a:spcAft>
              <a:defRPr sz="2200">
                <a:solidFill>
                  <a:srgbClr val="A0A8B8"/>
                </a:solidFill>
                <a:latin typeface="Segoe UI"/>
              </a:defRPr>
            </a:pPr>
            <a:r>
              <a:t>• Just like USB-C standardized phone charging</a:t>
            </a:r>
          </a:p>
          <a:p>
            <a:pPr>
              <a:spcAft>
                <a:spcPts val="1200"/>
              </a:spcAft>
              <a:defRPr sz="2200">
                <a:solidFill>
                  <a:srgbClr val="A0A8B8"/>
                </a:solidFill>
                <a:latin typeface="Segoe UI"/>
              </a:defRPr>
            </a:pPr>
            <a:r>
              <a:t>• Before MCP: Custom code for every integration</a:t>
            </a:r>
          </a:p>
          <a:p>
            <a:pPr>
              <a:spcAft>
                <a:spcPts val="1200"/>
              </a:spcAft>
              <a:defRPr sz="2200">
                <a:solidFill>
                  <a:srgbClr val="A0A8B8"/>
                </a:solidFill>
                <a:latin typeface="Segoe UI"/>
              </a:defRPr>
            </a:pPr>
            <a:r>
              <a:t>• After MCP: Plug-and-play connectivity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800" b="1">
                <a:solidFill>
                  <a:srgbClr val="00D2FF"/>
                </a:solidFill>
                <a:latin typeface="Segoe UI"/>
              </a:defRPr>
            </a:pPr>
            <a:r>
              <a:t>LESSON 1.2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004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MCP Core Concepts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Segoe UI"/>
              </a:defRPr>
            </a:pPr>
            <a:r>
              <a:t>LESSON 1.2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31520"/>
            <a:ext cx="91440" cy="54864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The Three Components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A0A8B8"/>
                </a:solidFill>
                <a:latin typeface="Segoe UI"/>
              </a:defRPr>
            </a:pPr>
            <a:r>
              <a:t>• 1️⃣ HOST (المضيف): AI application user interacts with</a:t>
            </a:r>
          </a:p>
          <a:p>
            <a:pPr>
              <a:spcAft>
                <a:spcPts val="1200"/>
              </a:spcAft>
              <a:defRPr sz="2200">
                <a:solidFill>
                  <a:srgbClr val="A0A8B8"/>
                </a:solidFill>
                <a:latin typeface="Segoe UI"/>
              </a:defRPr>
            </a:pPr>
            <a:r>
              <a:t>•    Claude Desktop, Cursor IDE, Windsurf, OpenCode</a:t>
            </a:r>
          </a:p>
          <a:p>
            <a:pPr>
              <a:spcAft>
                <a:spcPts val="1200"/>
              </a:spcAft>
              <a:defRPr sz="2200">
                <a:solidFill>
                  <a:srgbClr val="A0A8B8"/>
                </a:solidFill>
                <a:latin typeface="Segoe UI"/>
              </a:defRPr>
            </a:pPr>
            <a:r>
              <a:t>• 2️⃣ SERVER (الخادم): Program exposing capabilities</a:t>
            </a:r>
          </a:p>
          <a:p>
            <a:pPr>
              <a:spcAft>
                <a:spcPts val="1200"/>
              </a:spcAft>
              <a:defRPr sz="2200">
                <a:solidFill>
                  <a:srgbClr val="A0A8B8"/>
                </a:solidFill>
                <a:latin typeface="Segoe UI"/>
              </a:defRPr>
            </a:pPr>
            <a:r>
              <a:t>•    Filesystem, Database, API integrations</a:t>
            </a:r>
          </a:p>
          <a:p>
            <a:pPr>
              <a:spcAft>
                <a:spcPts val="1200"/>
              </a:spcAft>
              <a:defRPr sz="2200">
                <a:solidFill>
                  <a:srgbClr val="A0A8B8"/>
                </a:solidFill>
                <a:latin typeface="Segoe UI"/>
              </a:defRPr>
            </a:pPr>
            <a:r>
              <a:t>• 3️⃣ CLIENT (العميل): Connector between Host and Server</a:t>
            </a:r>
          </a:p>
          <a:p>
            <a:pPr>
              <a:spcAft>
                <a:spcPts val="1200"/>
              </a:spcAft>
              <a:defRPr sz="2200">
                <a:solidFill>
                  <a:srgbClr val="A0A8B8"/>
                </a:solidFill>
                <a:latin typeface="Segoe UI"/>
              </a:defRPr>
            </a:pPr>
            <a:r>
              <a:t>•    Manages connection lifecycle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Segoe UI"/>
              </a:defRPr>
            </a:pPr>
            <a:r>
              <a:t>LESSON 1.2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31520"/>
            <a:ext cx="91440" cy="54864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The Three Capabilities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A0A8B8"/>
                </a:solidFill>
                <a:latin typeface="Segoe UI"/>
              </a:defRPr>
            </a:pPr>
            <a:r>
              <a:t>• 🔧 TOOLS (الأدوات): Functions AI can invoke</a:t>
            </a:r>
          </a:p>
          <a:p>
            <a:pPr>
              <a:spcAft>
                <a:spcPts val="1200"/>
              </a:spcAft>
              <a:defRPr sz="2200">
                <a:solidFill>
                  <a:srgbClr val="A0A8B8"/>
                </a:solidFill>
                <a:latin typeface="Segoe UI"/>
              </a:defRPr>
            </a:pPr>
            <a:r>
              <a:t>•    send_email(), search_web(), query_database()</a:t>
            </a:r>
          </a:p>
          <a:p>
            <a:pPr>
              <a:spcAft>
                <a:spcPts val="1200"/>
              </a:spcAft>
              <a:defRPr sz="2200">
                <a:solidFill>
                  <a:srgbClr val="A0A8B8"/>
                </a:solidFill>
                <a:latin typeface="Segoe UI"/>
              </a:defRPr>
            </a:pPr>
            <a:r>
              <a:t>• 📄 RESOURCES (الموارد): Contextual data AI reads</a:t>
            </a:r>
          </a:p>
          <a:p>
            <a:pPr>
              <a:spcAft>
                <a:spcPts val="1200"/>
              </a:spcAft>
              <a:defRPr sz="2200">
                <a:solidFill>
                  <a:srgbClr val="A0A8B8"/>
                </a:solidFill>
                <a:latin typeface="Segoe UI"/>
              </a:defRPr>
            </a:pPr>
            <a:r>
              <a:t>•    Files, schemas, documentation, configurations</a:t>
            </a:r>
          </a:p>
          <a:p>
            <a:pPr>
              <a:spcAft>
                <a:spcPts val="1200"/>
              </a:spcAft>
              <a:defRPr sz="2200">
                <a:solidFill>
                  <a:srgbClr val="A0A8B8"/>
                </a:solidFill>
                <a:latin typeface="Segoe UI"/>
              </a:defRPr>
            </a:pPr>
            <a:r>
              <a:t>• 📝 PROMPTS (القوالب): Pre-defined templates</a:t>
            </a:r>
          </a:p>
          <a:p>
            <a:pPr>
              <a:spcAft>
                <a:spcPts val="1200"/>
              </a:spcAft>
              <a:defRPr sz="2200">
                <a:solidFill>
                  <a:srgbClr val="A0A8B8"/>
                </a:solidFill>
                <a:latin typeface="Segoe UI"/>
              </a:defRPr>
            </a:pPr>
            <a:r>
              <a:t>•    'Explain code', 'Generate commit message'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Segoe UI"/>
              </a:defRPr>
            </a:pPr>
            <a:r>
              <a:t>LESSON 1.3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31520"/>
            <a:ext cx="91440" cy="54864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Real-World Use Cases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A0A8B8"/>
                </a:solidFill>
                <a:latin typeface="Segoe UI"/>
              </a:defRPr>
            </a:pPr>
            <a:r>
              <a:t>• Block (Square): Internal developer tools</a:t>
            </a:r>
          </a:p>
          <a:p>
            <a:pPr>
              <a:spcAft>
                <a:spcPts val="1200"/>
              </a:spcAft>
              <a:defRPr sz="2200">
                <a:solidFill>
                  <a:srgbClr val="A0A8B8"/>
                </a:solidFill>
                <a:latin typeface="Segoe UI"/>
              </a:defRPr>
            </a:pPr>
            <a:r>
              <a:t>• Replit: Integrated into AI coding environment</a:t>
            </a:r>
          </a:p>
          <a:p>
            <a:pPr>
              <a:spcAft>
                <a:spcPts val="1200"/>
              </a:spcAft>
              <a:defRPr sz="2200">
                <a:solidFill>
                  <a:srgbClr val="A0A8B8"/>
                </a:solidFill>
                <a:latin typeface="Segoe UI"/>
              </a:defRPr>
            </a:pPr>
            <a:r>
              <a:t>• Sourcegraph: Code intelligence across repositories</a:t>
            </a:r>
          </a:p>
          <a:p>
            <a:pPr>
              <a:spcAft>
                <a:spcPts val="1200"/>
              </a:spcAft>
              <a:defRPr sz="2200">
                <a:solidFill>
                  <a:srgbClr val="A0A8B8"/>
                </a:solidFill>
                <a:latin typeface="Segoe UI"/>
              </a:defRPr>
            </a:pPr>
            <a:r>
              <a:t>• Zapier: MCP servers for thousands of apps</a:t>
            </a:r>
          </a:p>
          <a:p>
            <a:pPr>
              <a:spcAft>
                <a:spcPts val="1200"/>
              </a:spcAft>
              <a:defRPr sz="2200">
                <a:solidFill>
                  <a:srgbClr val="A0A8B8"/>
                </a:solidFill>
                <a:latin typeface="Segoe UI"/>
              </a:defRPr>
            </a:pPr>
            <a:r>
              <a:t>• Claude Desktop: Native MCP support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800" b="1">
                <a:solidFill>
                  <a:srgbClr val="00D2FF"/>
                </a:solidFill>
                <a:latin typeface="Segoe UI"/>
              </a:defRPr>
            </a:pPr>
            <a:r>
              <a:t>MODULE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004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MCP Architecture Deep Dive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Segoe UI"/>
              </a:defRPr>
            </a:pPr>
            <a:r>
              <a:t>LESSON 2.1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31520"/>
            <a:ext cx="91440" cy="54864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Transport Layers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A0A8B8"/>
                </a:solidFill>
                <a:latin typeface="Segoe UI"/>
              </a:defRPr>
            </a:pPr>
            <a:r>
              <a:t>• Option 1: Standard IO (stdio)</a:t>
            </a:r>
          </a:p>
          <a:p>
            <a:pPr>
              <a:spcAft>
                <a:spcPts val="1200"/>
              </a:spcAft>
              <a:defRPr sz="2200">
                <a:solidFill>
                  <a:srgbClr val="A0A8B8"/>
                </a:solidFill>
                <a:latin typeface="Segoe UI"/>
              </a:defRPr>
            </a:pPr>
            <a:r>
              <a:t>•    • Server runs as child process</a:t>
            </a:r>
          </a:p>
          <a:p>
            <a:pPr>
              <a:spcAft>
                <a:spcPts val="1200"/>
              </a:spcAft>
              <a:defRPr sz="2200">
                <a:solidFill>
                  <a:srgbClr val="A0A8B8"/>
                </a:solidFill>
                <a:latin typeface="Segoe UI"/>
              </a:defRPr>
            </a:pPr>
            <a:r>
              <a:t>•    • Messages via stdin/stdout</a:t>
            </a:r>
          </a:p>
          <a:p>
            <a:pPr>
              <a:spcAft>
                <a:spcPts val="1200"/>
              </a:spcAft>
              <a:defRPr sz="2200">
                <a:solidFill>
                  <a:srgbClr val="A0A8B8"/>
                </a:solidFill>
                <a:latin typeface="Segoe UI"/>
              </a:defRPr>
            </a:pPr>
            <a:r>
              <a:t>• Option 2: HTTP with SSE</a:t>
            </a:r>
          </a:p>
          <a:p>
            <a:pPr>
              <a:spcAft>
                <a:spcPts val="1200"/>
              </a:spcAft>
              <a:defRPr sz="2200">
                <a:solidFill>
                  <a:srgbClr val="A0A8B8"/>
                </a:solidFill>
                <a:latin typeface="Segoe UI"/>
              </a:defRPr>
            </a:pPr>
            <a:r>
              <a:t>•    • Multiple clients, cloud-ready</a:t>
            </a:r>
          </a:p>
          <a:p>
            <a:pPr>
              <a:spcAft>
                <a:spcPts val="1200"/>
              </a:spcAft>
              <a:defRPr sz="2200">
                <a:solidFill>
                  <a:srgbClr val="A0A8B8"/>
                </a:solidFill>
                <a:latin typeface="Segoe UI"/>
              </a:defRPr>
            </a:pPr>
            <a:r>
              <a:t>• Option 3: WebSocket</a:t>
            </a:r>
          </a:p>
          <a:p>
            <a:pPr>
              <a:spcAft>
                <a:spcPts val="1200"/>
              </a:spcAft>
              <a:defRPr sz="2200">
                <a:solidFill>
                  <a:srgbClr val="A0A8B8"/>
                </a:solidFill>
                <a:latin typeface="Segoe UI"/>
              </a:defRPr>
            </a:pPr>
            <a:r>
              <a:t>•    • Bidirectional real-time communication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Segoe UI"/>
              </a:defRPr>
            </a:pPr>
            <a:r>
              <a:t>LESSON 2.2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Segoe UI"/>
              </a:defRPr>
            </a:pPr>
            <a:r>
              <a:t>JSON-RPC Protocol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11247120" cy="5029200"/>
          </a:xfrm>
          <a:prstGeom prst="roundRect">
            <a:avLst/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A0A8B8"/>
                </a:solidFill>
                <a:latin typeface="Consolas"/>
              </a:defRPr>
            </a:pPr>
            <a:r>
              <a:t>// Request:</a:t>
            </a:r>
            <a:br/>
            <a:r>
              <a:t>{</a:t>
            </a:r>
            <a:br/>
            <a:r>
              <a:t>  "jsonrpc": "2.0",</a:t>
            </a:r>
            <a:br/>
            <a:r>
              <a:t>  "id": 1,</a:t>
            </a:r>
            <a:br/>
            <a:r>
              <a:t>  "method": "tools/call",</a:t>
            </a:r>
            <a:br/>
            <a:r>
              <a:t>  "params": {</a:t>
            </a:r>
            <a:br/>
            <a:r>
              <a:t>    "name": "query_database",</a:t>
            </a:r>
            <a:br/>
            <a:r>
              <a:t>    "arguments": { "query": "SELECT * FROM users" }</a:t>
            </a:r>
            <a:br/>
            <a:r>
              <a:t>  }</a:t>
            </a:r>
            <a:br/>
            <a:r>
              <a:t>}</a:t>
            </a:r>
            <a:br/>
            <a:br/>
            <a:r>
              <a:t>// Response: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Segoe UI"/>
              </a:defRPr>
            </a:pPr>
            <a:r>
              <a:t>LESSON 2.3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31520"/>
            <a:ext cx="91440" cy="54864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MCP Lifecycle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A0A8B8"/>
                </a:solidFill>
                <a:latin typeface="Segoe UI"/>
              </a:defRPr>
            </a:pPr>
            <a:r>
              <a:t>• Step 1: Initialization</a:t>
            </a:r>
          </a:p>
          <a:p>
            <a:pPr>
              <a:spcAft>
                <a:spcPts val="1200"/>
              </a:spcAft>
              <a:defRPr sz="2200">
                <a:solidFill>
                  <a:srgbClr val="A0A8B8"/>
                </a:solidFill>
                <a:latin typeface="Segoe UI"/>
              </a:defRPr>
            </a:pPr>
            <a:r>
              <a:t>•    Host sends capabilities to Server</a:t>
            </a:r>
          </a:p>
          <a:p>
            <a:pPr>
              <a:spcAft>
                <a:spcPts val="1200"/>
              </a:spcAft>
              <a:defRPr sz="2200">
                <a:solidFill>
                  <a:srgbClr val="A0A8B8"/>
                </a:solidFill>
                <a:latin typeface="Segoe UI"/>
              </a:defRPr>
            </a:pPr>
            <a:r>
              <a:t>• Step 2: Capability Negotiation</a:t>
            </a:r>
          </a:p>
          <a:p>
            <a:pPr>
              <a:spcAft>
                <a:spcPts val="1200"/>
              </a:spcAft>
              <a:defRPr sz="2200">
                <a:solidFill>
                  <a:srgbClr val="A0A8B8"/>
                </a:solidFill>
                <a:latin typeface="Segoe UI"/>
              </a:defRPr>
            </a:pPr>
            <a:r>
              <a:t>•    Both agree on intersection</a:t>
            </a:r>
          </a:p>
          <a:p>
            <a:pPr>
              <a:spcAft>
                <a:spcPts val="1200"/>
              </a:spcAft>
              <a:defRPr sz="2200">
                <a:solidFill>
                  <a:srgbClr val="A0A8B8"/>
                </a:solidFill>
                <a:latin typeface="Segoe UI"/>
              </a:defRPr>
            </a:pPr>
            <a:r>
              <a:t>• Step 3: Ready State</a:t>
            </a:r>
          </a:p>
          <a:p>
            <a:pPr>
              <a:spcAft>
                <a:spcPts val="1200"/>
              </a:spcAft>
              <a:defRPr sz="2200">
                <a:solidFill>
                  <a:srgbClr val="A0A8B8"/>
                </a:solidFill>
                <a:latin typeface="Segoe UI"/>
              </a:defRPr>
            </a:pPr>
            <a:r>
              <a:t>•    Connection ready for use</a:t>
            </a:r>
          </a:p>
          <a:p>
            <a:pPr>
              <a:spcAft>
                <a:spcPts val="1200"/>
              </a:spcAft>
              <a:defRPr sz="2200">
                <a:solidFill>
                  <a:srgbClr val="A0A8B8"/>
                </a:solidFill>
                <a:latin typeface="Segoe UI"/>
              </a:defRPr>
            </a:pPr>
            <a:r>
              <a:t>• Normal Operation → Tool calls → Resource reads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Segoe UI"/>
              </a:defRPr>
            </a:pPr>
            <a:r>
              <a:t>LESSON 2.4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31520"/>
            <a:ext cx="91440" cy="54864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Security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A0A8B8"/>
                </a:solidFill>
                <a:latin typeface="Segoe UI"/>
              </a:defRPr>
            </a:pPr>
            <a:r>
              <a:t>• Principle: Least Privilege</a:t>
            </a:r>
          </a:p>
          <a:p>
            <a:pPr>
              <a:spcAft>
                <a:spcPts val="1200"/>
              </a:spcAft>
              <a:defRPr sz="2200">
                <a:solidFill>
                  <a:srgbClr val="A0A8B8"/>
                </a:solidFill>
                <a:latin typeface="Segoe UI"/>
              </a:defRPr>
            </a:pPr>
            <a:r>
              <a:t>• • Explicit user consent required</a:t>
            </a:r>
          </a:p>
          <a:p>
            <a:pPr>
              <a:spcAft>
                <a:spcPts val="1200"/>
              </a:spcAft>
              <a:defRPr sz="2200">
                <a:solidFill>
                  <a:srgbClr val="A0A8B8"/>
                </a:solidFill>
                <a:latin typeface="Segoe UI"/>
              </a:defRPr>
            </a:pPr>
            <a:r>
              <a:t>• • Capability-based access control</a:t>
            </a:r>
          </a:p>
          <a:p>
            <a:pPr>
              <a:spcAft>
                <a:spcPts val="1200"/>
              </a:spcAft>
              <a:defRPr sz="2200">
                <a:solidFill>
                  <a:srgbClr val="A0A8B8"/>
                </a:solidFill>
                <a:latin typeface="Segoe UI"/>
              </a:defRPr>
            </a:pPr>
            <a:r>
              <a:t>• • Isolated server execution</a:t>
            </a:r>
          </a:p>
          <a:p>
            <a:pPr>
              <a:spcAft>
                <a:spcPts val="1200"/>
              </a:spcAft>
              <a:defRPr sz="2200">
                <a:solidFill>
                  <a:srgbClr val="A0A8B8"/>
                </a:solidFill>
                <a:latin typeface="Segoe UI"/>
              </a:defRPr>
            </a:pPr>
            <a:r>
              <a:t>• • No ambient authority sharing</a:t>
            </a:r>
          </a:p>
          <a:p>
            <a:pPr>
              <a:spcAft>
                <a:spcPts val="1200"/>
              </a:spcAft>
              <a:defRPr sz="2200">
                <a:solidFill>
                  <a:srgbClr val="A0A8B8"/>
                </a:solidFill>
                <a:latin typeface="Segoe UI"/>
              </a:defRPr>
            </a:pPr>
            <a:r>
              <a:t>• 4 layers: User → Host → Server → Service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800" b="1">
                <a:solidFill>
                  <a:srgbClr val="00D2FF"/>
                </a:solidFill>
                <a:latin typeface="Segoe UI"/>
              </a:defRPr>
            </a:pPr>
            <a:r>
              <a:t>MODULE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004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Building Your First MCP Server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Segoe UI"/>
              </a:defRPr>
            </a:pPr>
            <a:r>
              <a:t>LESSON 3.1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Segoe UI"/>
              </a:defRPr>
            </a:pPr>
            <a:r>
              <a:t>Hello World Server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11247120" cy="5029200"/>
          </a:xfrm>
          <a:prstGeom prst="roundRect">
            <a:avLst/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A0A8B8"/>
                </a:solidFill>
                <a:latin typeface="Consolas"/>
              </a:defRPr>
            </a:pPr>
            <a:r>
              <a:t>const server = new Server(</a:t>
            </a:r>
            <a:br/>
            <a:r>
              <a:t>  { name: "hello-server", version: "1.0.0" },</a:t>
            </a:r>
            <a:br/>
            <a:r>
              <a:t>  { capabilities: { tools: {} } }</a:t>
            </a:r>
            <a:br/>
            <a:r>
              <a:t>);</a:t>
            </a:r>
            <a:br/>
            <a:br/>
            <a:r>
              <a:t>server.setRequestHandler(ListToolsRequestSchema,</a:t>
            </a:r>
            <a:br/>
            <a:r>
              <a:t>  async () =&gt; ({</a:t>
            </a:r>
            <a:br/>
            <a:r>
              <a:t>    tools: [{</a:t>
            </a:r>
            <a:br/>
            <a:r>
              <a:t>      name: "hello",</a:t>
            </a:r>
            <a:br/>
            <a:r>
              <a:t>      description: "Say hello",</a:t>
            </a:r>
            <a:br/>
            <a:r>
              <a:t>      inputSchema: { ... }</a:t>
            </a:r>
            <a:br/>
            <a:r>
              <a:t>    }]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Segoe UI"/>
              </a:defRPr>
            </a:pPr>
            <a:r>
              <a:t>LESSON 3.2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31520"/>
            <a:ext cx="91440" cy="54864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Calculator Server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A0A8B8"/>
                </a:solidFill>
                <a:latin typeface="Segoe UI"/>
              </a:defRPr>
            </a:pPr>
            <a:r>
              <a:t>• Build server with multiple operations:</a:t>
            </a:r>
          </a:p>
          <a:p>
            <a:pPr>
              <a:spcAft>
                <a:spcPts val="1200"/>
              </a:spcAft>
              <a:defRPr sz="2200">
                <a:solidFill>
                  <a:srgbClr val="A0A8B8"/>
                </a:solidFill>
                <a:latin typeface="Segoe UI"/>
              </a:defRPr>
            </a:pPr>
            <a:r>
              <a:t>• • add(a, b) - Addition</a:t>
            </a:r>
          </a:p>
          <a:p>
            <a:pPr>
              <a:spcAft>
                <a:spcPts val="1200"/>
              </a:spcAft>
              <a:defRPr sz="2200">
                <a:solidFill>
                  <a:srgbClr val="A0A8B8"/>
                </a:solidFill>
                <a:latin typeface="Segoe UI"/>
              </a:defRPr>
            </a:pPr>
            <a:r>
              <a:t>• • subtract(a, b) - Subtraction</a:t>
            </a:r>
          </a:p>
          <a:p>
            <a:pPr>
              <a:spcAft>
                <a:spcPts val="1200"/>
              </a:spcAft>
              <a:defRPr sz="2200">
                <a:solidFill>
                  <a:srgbClr val="A0A8B8"/>
                </a:solidFill>
                <a:latin typeface="Segoe UI"/>
              </a:defRPr>
            </a:pPr>
            <a:r>
              <a:t>• • multiply(a, b) - Multiplication</a:t>
            </a:r>
          </a:p>
          <a:p>
            <a:pPr>
              <a:spcAft>
                <a:spcPts val="1200"/>
              </a:spcAft>
              <a:defRPr sz="2200">
                <a:solidFill>
                  <a:srgbClr val="A0A8B8"/>
                </a:solidFill>
                <a:latin typeface="Segoe UI"/>
              </a:defRPr>
            </a:pPr>
            <a:r>
              <a:t>• • divide(a, b) - Division with zero check</a:t>
            </a:r>
          </a:p>
          <a:p>
            <a:pPr>
              <a:spcAft>
                <a:spcPts val="1200"/>
              </a:spcAft>
              <a:defRPr sz="2200">
                <a:solidFill>
                  <a:srgbClr val="A0A8B8"/>
                </a:solidFill>
                <a:latin typeface="Segoe UI"/>
              </a:defRPr>
            </a:pPr>
            <a:r>
              <a:t>• • power(base, exponent) - Exponentiation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Segoe UI"/>
              </a:defRPr>
            </a:pPr>
            <a:r>
              <a:t>LESSON 3.3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31520"/>
            <a:ext cx="91440" cy="54864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Filesystem Server with Resources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A0A8B8"/>
                </a:solidFill>
                <a:latin typeface="Segoe UI"/>
              </a:defRPr>
            </a:pPr>
            <a:r>
              <a:t>• Expose filesystem as MCP Resources:</a:t>
            </a:r>
          </a:p>
          <a:p>
            <a:pPr>
              <a:spcAft>
                <a:spcPts val="1200"/>
              </a:spcAft>
              <a:defRPr sz="2200">
                <a:solidFill>
                  <a:srgbClr val="A0A8B8"/>
                </a:solidFill>
                <a:latin typeface="Segoe UI"/>
              </a:defRPr>
            </a:pPr>
            <a:r>
              <a:t>• • Read files with content URIs</a:t>
            </a:r>
          </a:p>
          <a:p>
            <a:pPr>
              <a:spcAft>
                <a:spcPts val="1200"/>
              </a:spcAft>
              <a:defRPr sz="2200">
                <a:solidFill>
                  <a:srgbClr val="A0A8B8"/>
                </a:solidFill>
                <a:latin typeface="Segoe UI"/>
              </a:defRPr>
            </a:pPr>
            <a:r>
              <a:t>• • List directory contents</a:t>
            </a:r>
          </a:p>
          <a:p>
            <a:pPr>
              <a:spcAft>
                <a:spcPts val="1200"/>
              </a:spcAft>
              <a:defRPr sz="2200">
                <a:solidFill>
                  <a:srgbClr val="A0A8B8"/>
                </a:solidFill>
                <a:latin typeface="Segoe UI"/>
              </a:defRPr>
            </a:pPr>
            <a:r>
              <a:t>• • Security: Path validation</a:t>
            </a:r>
          </a:p>
          <a:p>
            <a:pPr>
              <a:spcAft>
                <a:spcPts val="1200"/>
              </a:spcAft>
              <a:defRPr sz="2200">
                <a:solidFill>
                  <a:srgbClr val="A0A8B8"/>
                </a:solidFill>
                <a:latin typeface="Segoe UI"/>
              </a:defRPr>
            </a:pPr>
            <a:r>
              <a:t>• • Check: resolved.startsWith(allowedDir)</a:t>
            </a:r>
          </a:p>
          <a:p>
            <a:pPr>
              <a:spcAft>
                <a:spcPts val="1200"/>
              </a:spcAft>
              <a:defRPr sz="2200">
                <a:solidFill>
                  <a:srgbClr val="A0A8B8"/>
                </a:solidFill>
                <a:latin typeface="Segoe UI"/>
              </a:defRPr>
            </a:pPr>
            <a:r>
              <a:t>• Prevents: Directory traversal attacks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Segoe UI"/>
              </a:defRPr>
            </a:pPr>
            <a:r>
              <a:t>LESSON 3.4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31520"/>
            <a:ext cx="91440" cy="54864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Prompts Server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A0A8B8"/>
                </a:solidFill>
                <a:latin typeface="Segoe UI"/>
              </a:defRPr>
            </a:pPr>
            <a:r>
              <a:t>• Templates for common tasks:</a:t>
            </a:r>
          </a:p>
          <a:p>
            <a:pPr>
              <a:spcAft>
                <a:spcPts val="1200"/>
              </a:spcAft>
              <a:defRPr sz="2200">
                <a:solidFill>
                  <a:srgbClr val="A0A8B8"/>
                </a:solidFill>
                <a:latin typeface="Segoe UI"/>
              </a:defRPr>
            </a:pPr>
            <a:r>
              <a:t>• • explain_code(language, code)</a:t>
            </a:r>
          </a:p>
          <a:p>
            <a:pPr>
              <a:spcAft>
                <a:spcPts val="1200"/>
              </a:spcAft>
              <a:defRPr sz="2200">
                <a:solidFill>
                  <a:srgbClr val="A0A8B8"/>
                </a:solidFill>
                <a:latin typeface="Segoe UI"/>
              </a:defRPr>
            </a:pPr>
            <a:r>
              <a:t>• • generate_commit_message(changes)</a:t>
            </a:r>
          </a:p>
          <a:p>
            <a:pPr>
              <a:spcAft>
                <a:spcPts val="1200"/>
              </a:spcAft>
              <a:defRPr sz="2200">
                <a:solidFill>
                  <a:srgbClr val="A0A8B8"/>
                </a:solidFill>
                <a:latin typeface="Segoe UI"/>
              </a:defRPr>
            </a:pPr>
            <a:r>
              <a:t>• • dry_bug_report(title, description)</a:t>
            </a:r>
          </a:p>
          <a:p>
            <a:pPr>
              <a:spcAft>
                <a:spcPts val="1200"/>
              </a:spcAft>
              <a:defRPr sz="2200">
                <a:solidFill>
                  <a:srgbClr val="A0A8B8"/>
                </a:solidFill>
                <a:latin typeface="Segoe UI"/>
              </a:defRPr>
            </a:pPr>
            <a:r>
              <a:t>• Reusable patterns for AI workflows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800" b="1">
                <a:solidFill>
                  <a:srgbClr val="00D2FF"/>
                </a:solidFill>
                <a:latin typeface="Segoe UI"/>
              </a:defRPr>
            </a:pPr>
            <a:r>
              <a:t>MODULE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004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Advanced MCP Patterns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Segoe UI"/>
              </a:defRPr>
            </a:pPr>
            <a:r>
              <a:t>LESSON 4.1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31520"/>
            <a:ext cx="91440" cy="54864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Multi-Server Orchestration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A0A8B8"/>
                </a:solidFill>
                <a:latin typeface="Segoe UI"/>
              </a:defRPr>
            </a:pPr>
            <a:r>
              <a:t>• Real apps need multiple servers:</a:t>
            </a:r>
          </a:p>
          <a:p>
            <a:pPr>
              <a:spcAft>
                <a:spcPts val="1200"/>
              </a:spcAft>
              <a:defRPr sz="2200">
                <a:solidFill>
                  <a:srgbClr val="A0A8B8"/>
                </a:solidFill>
                <a:latin typeface="Segoe UI"/>
              </a:defRPr>
            </a:pPr>
            <a:r>
              <a:t>• • PostgreSQL → Query sales data</a:t>
            </a:r>
          </a:p>
          <a:p>
            <a:pPr>
              <a:spcAft>
                <a:spcPts val="1200"/>
              </a:spcAft>
              <a:defRPr sz="2200">
                <a:solidFill>
                  <a:srgbClr val="A0A8B8"/>
                </a:solidFill>
                <a:latin typeface="Segoe UI"/>
              </a:defRPr>
            </a:pPr>
            <a:r>
              <a:t>• • Web Search → Competitor analysis</a:t>
            </a:r>
          </a:p>
          <a:p>
            <a:pPr>
              <a:spcAft>
                <a:spcPts val="1200"/>
              </a:spcAft>
              <a:defRPr sz="2200">
                <a:solidFill>
                  <a:srgbClr val="A0A8B8"/>
                </a:solidFill>
                <a:latin typeface="Segoe UI"/>
              </a:defRPr>
            </a:pPr>
            <a:r>
              <a:t>• • Chart Server → Generate visualizations</a:t>
            </a:r>
          </a:p>
          <a:p>
            <a:pPr>
              <a:spcAft>
                <a:spcPts val="1200"/>
              </a:spcAft>
              <a:defRPr sz="2200">
                <a:solidFill>
                  <a:srgbClr val="A0A8B8"/>
                </a:solidFill>
                <a:latin typeface="Segoe UI"/>
              </a:defRPr>
            </a:pPr>
            <a:r>
              <a:t>• • Email Server → Send reports</a:t>
            </a:r>
          </a:p>
          <a:p>
            <a:pPr>
              <a:spcAft>
                <a:spcPts val="1200"/>
              </a:spcAft>
              <a:defRPr sz="2200">
                <a:solidFill>
                  <a:srgbClr val="A0A8B8"/>
                </a:solidFill>
                <a:latin typeface="Segoe UI"/>
              </a:defRPr>
            </a:pPr>
            <a:r>
              <a:t>• Configuration: JSON with timeouts &amp; env vars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Segoe UI"/>
              </a:defRPr>
            </a:pPr>
            <a:r>
              <a:t>LESSON 4.2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31520"/>
            <a:ext cx="91440" cy="54864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Resource Subscriptions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A0A8B8"/>
                </a:solidFill>
                <a:latin typeface="Segoe UI"/>
              </a:defRPr>
            </a:pPr>
            <a:r>
              <a:t>• Push updates instead of polling:</a:t>
            </a:r>
          </a:p>
          <a:p>
            <a:pPr>
              <a:spcAft>
                <a:spcPts val="1200"/>
              </a:spcAft>
              <a:defRPr sz="2200">
                <a:solidFill>
                  <a:srgbClr val="A0A8B8"/>
                </a:solidFill>
                <a:latin typeface="Segoe UI"/>
              </a:defRPr>
            </a:pPr>
            <a:r>
              <a:t>• • File watching → Notify on changes</a:t>
            </a:r>
          </a:p>
          <a:p>
            <a:pPr>
              <a:spcAft>
                <a:spcPts val="1200"/>
              </a:spcAft>
              <a:defRPr sz="2200">
                <a:solidFill>
                  <a:srgbClr val="A0A8B8"/>
                </a:solidFill>
                <a:latin typeface="Segoe UI"/>
              </a:defRPr>
            </a:pPr>
            <a:r>
              <a:t>• • Database triggers → Push updates</a:t>
            </a:r>
          </a:p>
          <a:p>
            <a:pPr>
              <a:spcAft>
                <a:spcPts val="1200"/>
              </a:spcAft>
              <a:defRPr sz="2200">
                <a:solidFill>
                  <a:srgbClr val="A0A8B8"/>
                </a:solidFill>
                <a:latin typeface="Segoe UI"/>
              </a:defRPr>
            </a:pPr>
            <a:r>
              <a:t>• • Real-time data → Stock prices</a:t>
            </a:r>
          </a:p>
          <a:p>
            <a:pPr>
              <a:spcAft>
                <a:spcPts val="1200"/>
              </a:spcAft>
              <a:defRPr sz="2200">
                <a:solidFill>
                  <a:srgbClr val="A0A8B8"/>
                </a:solidFill>
                <a:latin typeface="Segoe UI"/>
              </a:defRPr>
            </a:pPr>
            <a:r>
              <a:t>• • Build status → CI/CD notifications</a:t>
            </a:r>
          </a:p>
          <a:p>
            <a:pPr>
              <a:spcAft>
                <a:spcPts val="1200"/>
              </a:spcAft>
              <a:defRPr sz="2200">
                <a:solidFill>
                  <a:srgbClr val="A0A8B8"/>
                </a:solidFill>
                <a:latin typeface="Segoe UI"/>
              </a:defRPr>
            </a:pPr>
            <a:r>
              <a:t>• Methods: subscribe, unsubscribe, notify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Segoe UI"/>
              </a:defRPr>
            </a:pPr>
            <a:r>
              <a:t>LESSON 4.3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31520"/>
            <a:ext cx="91440" cy="54864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Production 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A0A8B8"/>
                </a:solidFill>
                <a:latin typeface="Segoe UI"/>
              </a:defRPr>
            </a:pPr>
            <a:r>
              <a:t>• Security Checklist:</a:t>
            </a:r>
          </a:p>
          <a:p>
            <a:pPr>
              <a:spcAft>
                <a:spcPts val="1200"/>
              </a:spcAft>
              <a:defRPr sz="2200">
                <a:solidFill>
                  <a:srgbClr val="A0A8B8"/>
                </a:solidFill>
                <a:latin typeface="Segoe UI"/>
              </a:defRPr>
            </a:pPr>
            <a:r>
              <a:t>• • Input validation &amp; sanitization</a:t>
            </a:r>
          </a:p>
          <a:p>
            <a:pPr>
              <a:spcAft>
                <a:spcPts val="1200"/>
              </a:spcAft>
              <a:defRPr sz="2200">
                <a:solidFill>
                  <a:srgbClr val="A0A8B8"/>
                </a:solidFill>
                <a:latin typeface="Segoe UI"/>
              </a:defRPr>
            </a:pPr>
            <a:r>
              <a:t>• • Path traversal prevention</a:t>
            </a:r>
          </a:p>
          <a:p>
            <a:pPr>
              <a:spcAft>
                <a:spcPts val="1200"/>
              </a:spcAft>
              <a:defRPr sz="2200">
                <a:solidFill>
                  <a:srgbClr val="A0A8B8"/>
                </a:solidFill>
                <a:latin typeface="Segoe UI"/>
              </a:defRPr>
            </a:pPr>
            <a:r>
              <a:t>• • Secrets management (env vars)</a:t>
            </a:r>
          </a:p>
          <a:p>
            <a:pPr>
              <a:spcAft>
                <a:spcPts val="1200"/>
              </a:spcAft>
              <a:defRPr sz="2200">
                <a:solidFill>
                  <a:srgbClr val="A0A8B8"/>
                </a:solidFill>
                <a:latin typeface="Segoe UI"/>
              </a:defRPr>
            </a:pPr>
            <a:r>
              <a:t>• • Rate limiting per client</a:t>
            </a:r>
          </a:p>
          <a:p>
            <a:pPr>
              <a:spcAft>
                <a:spcPts val="1200"/>
              </a:spcAft>
              <a:defRPr sz="2200">
                <a:solidFill>
                  <a:srgbClr val="A0A8B8"/>
                </a:solidFill>
                <a:latin typeface="Segoe UI"/>
              </a:defRPr>
            </a:pPr>
            <a:r>
              <a:t>• • Request timeouts</a:t>
            </a:r>
          </a:p>
          <a:p>
            <a:pPr>
              <a:spcAft>
                <a:spcPts val="1200"/>
              </a:spcAft>
              <a:defRPr sz="2200">
                <a:solidFill>
                  <a:srgbClr val="A0A8B8"/>
                </a:solidFill>
                <a:latin typeface="Segoe UI"/>
              </a:defRPr>
            </a:pPr>
            <a:r>
              <a:t>• • Docker sandboxing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Segoe UI"/>
              </a:defRPr>
            </a:pPr>
            <a:r>
              <a:t>LESSON 4.4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31520"/>
            <a:ext cx="91440" cy="54864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Performance Tips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A0A8B8"/>
                </a:solidFill>
                <a:latin typeface="Segoe UI"/>
              </a:defRPr>
            </a:pPr>
            <a:r>
              <a:t>• Optimize your MCP servers:</a:t>
            </a:r>
          </a:p>
          <a:p>
            <a:pPr>
              <a:spcAft>
                <a:spcPts val="1200"/>
              </a:spcAft>
              <a:defRPr sz="2200">
                <a:solidFill>
                  <a:srgbClr val="A0A8B8"/>
                </a:solidFill>
                <a:latin typeface="Segoe UI"/>
              </a:defRPr>
            </a:pPr>
            <a:r>
              <a:t>• • Connection pooling for databases</a:t>
            </a:r>
          </a:p>
          <a:p>
            <a:pPr>
              <a:spcAft>
                <a:spcPts val="1200"/>
              </a:spcAft>
              <a:defRPr sz="2200">
                <a:solidFill>
                  <a:srgbClr val="A0A8B8"/>
                </a:solidFill>
                <a:latin typeface="Segoe UI"/>
              </a:defRPr>
            </a:pPr>
            <a:r>
              <a:t>• • Caching with TTL</a:t>
            </a:r>
          </a:p>
          <a:p>
            <a:pPr>
              <a:spcAft>
                <a:spcPts val="1200"/>
              </a:spcAft>
              <a:defRPr sz="2200">
                <a:solidFill>
                  <a:srgbClr val="A0A8B8"/>
                </a:solidFill>
                <a:latin typeface="Segoe UI"/>
              </a:defRPr>
            </a:pPr>
            <a:r>
              <a:t>• • Streaming large responses</a:t>
            </a:r>
          </a:p>
          <a:p>
            <a:pPr>
              <a:spcAft>
                <a:spcPts val="1200"/>
              </a:spcAft>
              <a:defRPr sz="2200">
                <a:solidFill>
                  <a:srgbClr val="A0A8B8"/>
                </a:solidFill>
                <a:latin typeface="Segoe UI"/>
              </a:defRPr>
            </a:pPr>
            <a:r>
              <a:t>• • Async loading of resources</a:t>
            </a:r>
          </a:p>
          <a:p>
            <a:pPr>
              <a:spcAft>
                <a:spcPts val="1200"/>
              </a:spcAft>
              <a:defRPr sz="2200">
                <a:solidFill>
                  <a:srgbClr val="A0A8B8"/>
                </a:solidFill>
                <a:latin typeface="Segoe UI"/>
              </a:defRPr>
            </a:pPr>
            <a:r>
              <a:t>• • Lazy initialization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800" b="1">
                <a:solidFill>
                  <a:srgbClr val="00D2FF"/>
                </a:solidFill>
                <a:latin typeface="Segoe UI"/>
              </a:defRPr>
            </a:pPr>
            <a:r>
              <a:t>COURSE COMPLETE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004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Summary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Segoe UI"/>
              </a:defRPr>
            </a:pPr>
            <a:r>
              <a:t>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31520"/>
            <a:ext cx="91440" cy="54864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Key Takeaways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A0A8B8"/>
                </a:solidFill>
                <a:latin typeface="Segoe UI"/>
              </a:defRPr>
            </a:pPr>
            <a:r>
              <a:t>• ✅ MCP = Standardized AI-tool protocol</a:t>
            </a:r>
          </a:p>
          <a:p>
            <a:pPr>
              <a:spcAft>
                <a:spcPts val="1200"/>
              </a:spcAft>
              <a:defRPr sz="2200">
                <a:solidFill>
                  <a:srgbClr val="A0A8B8"/>
                </a:solidFill>
                <a:latin typeface="Segoe UI"/>
              </a:defRPr>
            </a:pPr>
            <a:r>
              <a:t>• ✅ Three Components: Host, Server, Client</a:t>
            </a:r>
          </a:p>
          <a:p>
            <a:pPr>
              <a:spcAft>
                <a:spcPts val="1200"/>
              </a:spcAft>
              <a:defRPr sz="2200">
                <a:solidFill>
                  <a:srgbClr val="A0A8B8"/>
                </a:solidFill>
                <a:latin typeface="Segoe UI"/>
              </a:defRPr>
            </a:pPr>
            <a:r>
              <a:t>• ✅ Three Capabilities: Tools, Resources, Prompts</a:t>
            </a:r>
          </a:p>
          <a:p>
            <a:pPr>
              <a:spcAft>
                <a:spcPts val="1200"/>
              </a:spcAft>
              <a:defRPr sz="2200">
                <a:solidFill>
                  <a:srgbClr val="A0A8B8"/>
                </a:solidFill>
                <a:latin typeface="Segoe UI"/>
              </a:defRPr>
            </a:pPr>
            <a:r>
              <a:t>• ✅ 'USB-C for AI' - One protocol, infinite tools</a:t>
            </a:r>
          </a:p>
          <a:p>
            <a:pPr>
              <a:spcAft>
                <a:spcPts val="1200"/>
              </a:spcAft>
              <a:defRPr sz="2200">
                <a:solidFill>
                  <a:srgbClr val="A0A8B8"/>
                </a:solidFill>
                <a:latin typeface="Segoe UI"/>
              </a:defRPr>
            </a:pPr>
            <a:r>
              <a:t>• ✅ Production ready: Block, Replit, Zapier using it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0"/>
            <a:ext cx="91440" cy="109728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Segoe UI"/>
              </a:defRPr>
            </a:pPr>
            <a:r>
              <a:t>🎓 Velox AI Agency | modelcontextprotocol.io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5603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FFFFFF"/>
                </a:solidFill>
                <a:latin typeface="Segoe UI"/>
              </a:defRPr>
            </a:pPr>
            <a:r>
              <a:t>Thanks for Learning!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>
                <a:solidFill>
                  <a:srgbClr val="A0A8B8"/>
                </a:solidFill>
                <a:latin typeface="Segoe UI"/>
              </a:defRPr>
            </a:pPr>
            <a:r>
              <a:t>Start building your MCP servers today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